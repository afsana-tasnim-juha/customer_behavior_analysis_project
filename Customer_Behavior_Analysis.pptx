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6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(USD)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B27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Male</c:v>
                  </c:pt>
                  <c:pt idx="1">
                    <c:v>Female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157890</c:v>
                </c:pt>
                <c:pt idx="1">
                  <c:v>75191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1" i="0" strike="noStrike" sz="1200" u="none">
                  <a:solidFill>
                    <a:srgbClr val="1B27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B27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65A82"/>
              </a:solidFill>
              <a:effectLst/>
            </c:spPr>
          </c:dPt>
          <c:dPt>
            <c:idx val="1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bubble3D val="0"/>
            <c:spPr>
              <a:solidFill>
                <a:srgbClr val="E8A94C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Loyal</c:v>
                </c:pt>
                <c:pt idx="1">
                  <c:v>Returning</c:v>
                </c:pt>
                <c:pt idx="2">
                  <c:v>New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3116</c:v>
                </c:pt>
                <c:pt idx="1">
                  <c:v>701</c:v>
                </c:pt>
                <c:pt idx="2">
                  <c:v>83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733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Spend (USD)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$#,##0.0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B27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A94C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Non-Subscribers</c:v>
                  </c:pt>
                  <c:pt idx="1">
                    <c:v>Subscribers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59.87</c:v>
                </c:pt>
                <c:pt idx="1">
                  <c:v>59.49</c:v>
                </c:pt>
              </c:numCache>
            </c:numRef>
          </c:val>
        </c:ser>
        <c:dLbls>
          <c:numFmt formatCode="$#,##0.00" sourceLinked="0"/>
          <c:txPr>
            <a:bodyPr/>
            <a:lstStyle/>
            <a:p>
              <a:pPr>
                <a:defRPr b="1" i="0" strike="noStrike" sz="1300" u="none">
                  <a:solidFill>
                    <a:srgbClr val="1B27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B27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59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$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B27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Clothing</c:v>
                  </c:pt>
                  <c:pt idx="1">
                    <c:v>Accessories</c:v>
                  </c:pt>
                  <c:pt idx="2">
                    <c:v>Footwear</c:v>
                  </c:pt>
                  <c:pt idx="3">
                    <c:v>Outerwear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1737</c:v>
                </c:pt>
                <c:pt idx="1">
                  <c:v>1240</c:v>
                </c:pt>
                <c:pt idx="2">
                  <c:v>599</c:v>
                </c:pt>
                <c:pt idx="3">
                  <c:v>324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1B27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50" b="0" i="0" u="none" strike="noStrike">
                <a:solidFill>
                  <a:srgbClr val="1B27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5F9FB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Discount Rate (%)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B27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Hat</c:v>
                  </c:pt>
                  <c:pt idx="1">
                    <c:v>Sneakers</c:v>
                  </c:pt>
                  <c:pt idx="2">
                    <c:v>Coat</c:v>
                  </c:pt>
                  <c:pt idx="3">
                    <c:v>Sweater</c:v>
                  </c:pt>
                  <c:pt idx="4">
                    <c:v>Pants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</c:v>
                </c:pt>
                <c:pt idx="1">
                  <c:v>49.66</c:v>
                </c:pt>
                <c:pt idx="2">
                  <c:v>49.07</c:v>
                </c:pt>
                <c:pt idx="3">
                  <c:v>48.17</c:v>
                </c:pt>
                <c:pt idx="4">
                  <c:v>47.37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200" u="none">
                  <a:solidFill>
                    <a:srgbClr val="1B27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50" b="0" i="0" u="none" strike="noStrike">
                <a:solidFill>
                  <a:srgbClr val="1B27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(USD)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1" i="0" strike="noStrike" sz="1250" u="none">
                    <a:solidFill>
                      <a:srgbClr val="1B27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Young Adult</c:v>
                  </c:pt>
                  <c:pt idx="1">
                    <c:v>Middle-aged</c:v>
                  </c:pt>
                  <c:pt idx="2">
                    <c:v>Adult</c:v>
                  </c:pt>
                  <c:pt idx="3">
                    <c:v>Senior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62143</c:v>
                </c:pt>
                <c:pt idx="1">
                  <c:v>59197</c:v>
                </c:pt>
                <c:pt idx="2">
                  <c:v>55978</c:v>
                </c:pt>
                <c:pt idx="3">
                  <c:v>55763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1" i="0" strike="noStrike" sz="1250" u="none">
                  <a:solidFill>
                    <a:srgbClr val="1B27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B27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5F9F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6-1.png"/><Relationship Id="rId3" Type="http://schemas.openxmlformats.org/officeDocument/2006/relationships/image" Target="../media/image-6-2.png"/><Relationship Id="rId4" Type="http://schemas.openxmlformats.org/officeDocument/2006/relationships/image" Target="../media/image-6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389120" cy="438912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931920"/>
            <a:ext cx="2926080" cy="292608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1488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SHOPPING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2743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200" kern="0" dirty="0">
                <a:solidFill>
                  <a:srgbClr val="CFE8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BEHAVIOR ANALYSIS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5204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Data Analytics Study of Purchase Patterns, Segmentation &amp; Revenue Drivers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 •   SQL   •   POWER BI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3,900 Customer Transaction Records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raw retail transactions into business-ready insight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542032" cy="3977640"/>
          </a:xfrm>
          <a:prstGeom prst="roundRect">
            <a:avLst>
              <a:gd name="adj" fmla="val 2878"/>
            </a:avLst>
          </a:prstGeom>
          <a:solidFill>
            <a:srgbClr val="F5F9FB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99616" y="219456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icons/databas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2414016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0116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329184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 &amp; Explore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96112" y="3840480"/>
            <a:ext cx="202996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3,900 customer records and profile structure, types, and missing values in Python.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438144" y="1874520"/>
            <a:ext cx="2542032" cy="3977640"/>
          </a:xfrm>
          <a:prstGeom prst="roundRect">
            <a:avLst>
              <a:gd name="adj" fmla="val 2878"/>
            </a:avLst>
          </a:prstGeom>
          <a:solidFill>
            <a:srgbClr val="F5F9FB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97680" y="219456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1" descr="icons/layer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9704" y="2414016"/>
            <a:ext cx="438912" cy="438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75304" y="20116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621024" y="329184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&amp; Engineer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94176" y="3840480"/>
            <a:ext cx="202996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 review ratings, standardize fields, and build age-group and purchase-frequency features.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236208" y="1874520"/>
            <a:ext cx="2542032" cy="3977640"/>
          </a:xfrm>
          <a:prstGeom prst="roundRect">
            <a:avLst>
              <a:gd name="adj" fmla="val 2878"/>
            </a:avLst>
          </a:prstGeom>
          <a:solidFill>
            <a:srgbClr val="F5F9FB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095744" y="219456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8" name="Image 2" descr="icons/char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7768" y="2414016"/>
            <a:ext cx="438912" cy="4389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73368" y="20116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19088" y="329184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with SQL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92240" y="3840480"/>
            <a:ext cx="202996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10 business questions on revenue, segments, discounts, and loyalty using SQL.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9034272" y="1874520"/>
            <a:ext cx="2542032" cy="3977640"/>
          </a:xfrm>
          <a:prstGeom prst="roundRect">
            <a:avLst>
              <a:gd name="adj" fmla="val 2878"/>
            </a:avLst>
          </a:prstGeom>
          <a:solidFill>
            <a:srgbClr val="F5F9FB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893808" y="219456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4" name="Image 3" descr="icons/pi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5832" y="2414016"/>
            <a:ext cx="438912" cy="43891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171432" y="20116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9217152" y="329184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Visualize in Power BI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9290304" y="3840480"/>
            <a:ext cx="202996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an interactive dashboard translating findings into decisions for the business.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Methodology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120640" cy="4480560"/>
          </a:xfrm>
          <a:prstGeom prst="roundRect">
            <a:avLst>
              <a:gd name="adj" fmla="val 1633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customer_shopping_behavior.csv.xlsx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14400" y="2359152"/>
            <a:ext cx="109728" cy="109728"/>
          </a:xfrm>
          <a:prstGeom prst="ellipse">
            <a:avLst/>
          </a:prstGeom>
          <a:solidFill>
            <a:srgbClr val="E8A94C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2212848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3,900 customer transaction records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3227832"/>
            <a:ext cx="109728" cy="109728"/>
          </a:xfrm>
          <a:prstGeom prst="ellipse">
            <a:avLst/>
          </a:prstGeom>
          <a:solidFill>
            <a:srgbClr val="E8A94C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3081528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attributes: demographics, product, price, ratings, channel &amp; loyalty signals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4096512"/>
            <a:ext cx="109728" cy="109728"/>
          </a:xfrm>
          <a:prstGeom prst="ellipse">
            <a:avLst/>
          </a:prstGeom>
          <a:solidFill>
            <a:srgbClr val="E8A94C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3950208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product categories: Clothing, Accessories, Footwear, Outerwear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" y="4965192"/>
            <a:ext cx="109728" cy="109728"/>
          </a:xfrm>
          <a:prstGeom prst="ellipse">
            <a:avLst/>
          </a:prstGeom>
          <a:solidFill>
            <a:srgbClr val="E8A94C"/>
          </a:solidFill>
          <a:ln/>
        </p:spPr>
      </p:sp>
      <p:sp>
        <p:nvSpPr>
          <p:cNvPr id="12" name="Text 10"/>
          <p:cNvSpPr/>
          <p:nvPr/>
        </p:nvSpPr>
        <p:spPr>
          <a:xfrm>
            <a:off x="1188720" y="4818888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missing values after review-rating imputation by category median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03504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Technologies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35040" y="1965960"/>
            <a:ext cx="5486400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63640" y="2185416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0" descr="icons/pytho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28232" y="2350008"/>
            <a:ext cx="402336" cy="40233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178040" y="21031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&amp; Pandas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7178040" y="249631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loading, cleaning, feature engineering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035040" y="3337560"/>
            <a:ext cx="5486400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263640" y="3557016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1" descr="icons/databas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232" y="3721608"/>
            <a:ext cx="402336" cy="40233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178040" y="34747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7178040" y="386791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Business-question querying on cleaned data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6035040" y="4709160"/>
            <a:ext cx="5486400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263640" y="4928616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6" name="Image 2" descr="icons/pi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5093208"/>
            <a:ext cx="402336" cy="40233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7178040" y="48463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7178040" y="523951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&amp; executive reporting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Performance Metrics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snapshot of the customer base at a glance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542032" cy="3566160"/>
          </a:xfrm>
          <a:prstGeom prst="roundRect">
            <a:avLst>
              <a:gd name="adj" fmla="val 2878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270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27048" y="2331720"/>
            <a:ext cx="768096" cy="768096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6" name="Image 0" descr="icons/dolla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9928" y="2514600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383280"/>
            <a:ext cx="2359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$233,081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777240" y="4114800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438144" y="1965960"/>
            <a:ext cx="2542032" cy="3566160"/>
          </a:xfrm>
          <a:prstGeom prst="roundRect">
            <a:avLst>
              <a:gd name="adj" fmla="val 2878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270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25112" y="2331720"/>
            <a:ext cx="768096" cy="768096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1" name="Image 1" descr="icons/user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7992" y="2514600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9584" y="3383280"/>
            <a:ext cx="2359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3,900</a:t>
            </a:r>
            <a:endParaRPr lang="en-US" sz="2700" dirty="0"/>
          </a:p>
        </p:txBody>
      </p:sp>
      <p:sp>
        <p:nvSpPr>
          <p:cNvPr id="13" name="Text 9"/>
          <p:cNvSpPr/>
          <p:nvPr/>
        </p:nvSpPr>
        <p:spPr>
          <a:xfrm>
            <a:off x="3575304" y="4114800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Analyzed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236208" y="1965960"/>
            <a:ext cx="2542032" cy="3566160"/>
          </a:xfrm>
          <a:prstGeom prst="roundRect">
            <a:avLst>
              <a:gd name="adj" fmla="val 2878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27000" dist="25400" dir="5400000">
              <a:srgbClr val="000000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23176" y="2331720"/>
            <a:ext cx="768096" cy="768096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6" name="Image 2" descr="icons/bag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6056" y="2514600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27648" y="3383280"/>
            <a:ext cx="2359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$59.76</a:t>
            </a:r>
            <a:endParaRPr lang="en-US" sz="2700" dirty="0"/>
          </a:p>
        </p:txBody>
      </p:sp>
      <p:sp>
        <p:nvSpPr>
          <p:cNvPr id="18" name="Text 13"/>
          <p:cNvSpPr/>
          <p:nvPr/>
        </p:nvSpPr>
        <p:spPr>
          <a:xfrm>
            <a:off x="6373368" y="4114800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Purchase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9034272" y="1965960"/>
            <a:ext cx="2542032" cy="3566160"/>
          </a:xfrm>
          <a:prstGeom prst="roundRect">
            <a:avLst>
              <a:gd name="adj" fmla="val 2878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27000" dist="25400" dir="5400000">
              <a:srgbClr val="000000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921240" y="2331720"/>
            <a:ext cx="768096" cy="768096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21" name="Image 3" descr="icons/star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0" y="2514600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25712" y="3383280"/>
            <a:ext cx="2359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3.75 / 5</a:t>
            </a:r>
            <a:endParaRPr lang="en-US" sz="2700" dirty="0"/>
          </a:p>
        </p:txBody>
      </p:sp>
      <p:sp>
        <p:nvSpPr>
          <p:cNvPr id="23" name="Text 17"/>
          <p:cNvSpPr/>
          <p:nvPr/>
        </p:nvSpPr>
        <p:spPr>
          <a:xfrm>
            <a:off x="9171432" y="4114800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Review Rating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640080" y="6263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customer_shopping_behavior.csv.xlsx  |  Cleaned &amp; aggregated in Python / SQL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Skews Heavily Male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purchase revenue generated by gender</a:t>
            </a:r>
            <a:endParaRPr lang="en-US" sz="13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91640"/>
          <a:ext cx="64008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360920" y="1691640"/>
            <a:ext cx="4160520" cy="4297680"/>
          </a:xfrm>
          <a:prstGeom prst="roundRect">
            <a:avLst>
              <a:gd name="adj" fmla="val 1758"/>
            </a:avLst>
          </a:prstGeom>
          <a:solidFill>
            <a:srgbClr val="F5F9FB"/>
          </a:solidFill>
          <a:ln/>
        </p:spPr>
      </p:sp>
      <p:sp>
        <p:nvSpPr>
          <p:cNvPr id="6" name="Text 3"/>
          <p:cNvSpPr/>
          <p:nvPr/>
        </p:nvSpPr>
        <p:spPr>
          <a:xfrm>
            <a:off x="7635240" y="1965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635240" y="23774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68%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7635240" y="3200400"/>
            <a:ext cx="3611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total revenue comes from male customers, more than double the female contribution.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635240" y="4709160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spend and merchandising could be re-balanced to grow share among female shoppers.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Customers Are Loyal Repeat Buyers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Segmented by number of previous purchases: New (1), Returning (2-10), Loyal (10+)</a:t>
            </a:r>
            <a:endParaRPr lang="en-US" sz="13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822960" y="1737360"/>
          <a:ext cx="51206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309360" y="178308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icons/crow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911096"/>
            <a:ext cx="310896" cy="31089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995160" y="1737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Loyal  </a:t>
            </a:r>
            <a:pPr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3,116 customers (79.9%)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6995160" y="21031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10 previous purchases — the backbone of revenue.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6309360" y="274320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0" name="Image 1" descr="icons/user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2871216"/>
            <a:ext cx="310896" cy="31089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995160" y="2697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Returning  </a:t>
            </a:r>
            <a:pPr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701 customers (18.0%)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6995160" y="30632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2-10 previous purchases, building toward loyalty.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6309360" y="370332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4" name="Image 2" descr="icons/userplu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3831336"/>
            <a:ext cx="310896" cy="31089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995160" y="3657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 </a:t>
            </a:r>
            <a:pPr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 customers (2.1%)</a:t>
            </a:r>
            <a:endParaRPr lang="en-US" sz="1500" dirty="0"/>
          </a:p>
        </p:txBody>
      </p:sp>
      <p:sp>
        <p:nvSpPr>
          <p:cNvPr id="16" name="Text 10"/>
          <p:cNvSpPr/>
          <p:nvPr/>
        </p:nvSpPr>
        <p:spPr>
          <a:xfrm>
            <a:off x="6995160" y="40233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First-time buyers — the smallest but highest-growth segment.</a:t>
            </a:r>
            <a:endParaRPr lang="en-US" sz="1150" dirty="0"/>
          </a:p>
        </p:txBody>
      </p:sp>
      <p:sp>
        <p:nvSpPr>
          <p:cNvPr id="17" name="Shape 11"/>
          <p:cNvSpPr/>
          <p:nvPr/>
        </p:nvSpPr>
        <p:spPr>
          <a:xfrm>
            <a:off x="6172200" y="4892040"/>
            <a:ext cx="5394960" cy="1051560"/>
          </a:xfrm>
          <a:prstGeom prst="roundRect">
            <a:avLst>
              <a:gd name="adj" fmla="val 6087"/>
            </a:avLst>
          </a:prstGeom>
          <a:solidFill>
            <a:srgbClr val="21295C"/>
          </a:solidFill>
          <a:ln/>
        </p:spPr>
      </p:sp>
      <p:sp>
        <p:nvSpPr>
          <p:cNvPr id="18" name="Text 12"/>
          <p:cNvSpPr/>
          <p:nvPr/>
        </p:nvSpPr>
        <p:spPr>
          <a:xfrm>
            <a:off x="6400800" y="501091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programs already work — the priority is converting the 18% of Returning customers into Loyal, not just acquiring new ones.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Subscription Status Doesn't Move Spend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purchase amount: subscribers vs. non-subscribers</a:t>
            </a:r>
            <a:endParaRPr lang="en-US" sz="13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737360"/>
          <a:ext cx="64008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360920" y="1737360"/>
            <a:ext cx="4160520" cy="4206240"/>
          </a:xfrm>
          <a:prstGeom prst="roundRect">
            <a:avLst>
              <a:gd name="adj" fmla="val 1758"/>
            </a:avLst>
          </a:prstGeom>
          <a:solidFill>
            <a:srgbClr val="F5F9FB"/>
          </a:solidFill>
          <a:ln/>
        </p:spPr>
      </p:sp>
      <p:sp>
        <p:nvSpPr>
          <p:cNvPr id="6" name="Text 3"/>
          <p:cNvSpPr/>
          <p:nvPr/>
        </p:nvSpPr>
        <p:spPr>
          <a:xfrm>
            <a:off x="7635240" y="2011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635240" y="239572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2,847 vs 1,053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635240" y="3017520"/>
            <a:ext cx="3611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non-subscribers to subscribers — yet average spend per order is nearly identical ($59.87 vs $59.49).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635240" y="4343400"/>
            <a:ext cx="3611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Non-subscribers still generate 73% of total revenue ($170K) simply through volume — subscription is not currently a strong spend driver.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Clothing Leads, But Ratings Favor Accessories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orders by category, and the highest-rated products overall</a:t>
            </a:r>
            <a:endParaRPr lang="en-US" sz="13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737360"/>
          <a:ext cx="60350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94944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5 Products by Average Rating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0" y="2240280"/>
          <a:ext cx="4572000" cy="210312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Avg. Rating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Gloves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Sandals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6949440" y="4572000"/>
            <a:ext cx="4572000" cy="1371600"/>
          </a:xfrm>
          <a:prstGeom prst="roundRect">
            <a:avLst>
              <a:gd name="adj" fmla="val 4667"/>
            </a:avLst>
          </a:prstGeom>
          <a:solidFill>
            <a:srgbClr val="21295C"/>
          </a:solidFill>
          <a:ln/>
        </p:spPr>
      </p:sp>
      <p:sp>
        <p:nvSpPr>
          <p:cNvPr id="8" name="Text 4"/>
          <p:cNvSpPr/>
          <p:nvPr/>
        </p:nvSpPr>
        <p:spPr>
          <a:xfrm>
            <a:off x="7178040" y="470916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 drives 44.5% of orders, but accessory items like gloves and jewelry earn the strongest customer satisfaction scores.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Discounts Concentrate in Cold-Weather Apparel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with the highest share of discounted purchases</a:t>
            </a:r>
            <a:endParaRPr lang="en-US" sz="13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737360"/>
          <a:ext cx="69494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909560" y="173736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F5F9FB"/>
          </a:solidFill>
          <a:ln/>
        </p:spPr>
      </p:sp>
      <p:sp>
        <p:nvSpPr>
          <p:cNvPr id="6" name="Text 3"/>
          <p:cNvSpPr/>
          <p:nvPr/>
        </p:nvSpPr>
        <p:spPr>
          <a:xfrm>
            <a:off x="8183880" y="20574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43%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183880" y="278892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purchases store-wide include a discount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183880" y="370332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Hats, sneakers, and coats see the heaviest promotional activity, roughly 1 in 2 purchases discounted.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183880" y="489204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whether these categories need such deep, frequent discounting to convert customers.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Is Evenly Spread Across Age Groups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contribution by age quartile</a:t>
            </a:r>
            <a:endParaRPr lang="en-US" sz="13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822960" y="1783080"/>
          <a:ext cx="987552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822960" y="598932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ranges narrowly from $55.8K to $62.1K across all four age groups — no single generation dominates, so age-targeted campaigns should broaden rather than narrow reach.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 &amp; Recommendations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analysis into action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12080" cy="1874520"/>
          </a:xfrm>
          <a:prstGeom prst="roundRect">
            <a:avLst>
              <a:gd name="adj" fmla="val 3902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25400" dir="54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65960"/>
            <a:ext cx="658368" cy="658368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6" name="Image 0" descr="icons/targe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121408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911096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 the female customer base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737360" y="246888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shoppers drive only 32% of revenue — targeted campaigns and assortment could close the gap.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72200" y="1691640"/>
            <a:ext cx="5212080" cy="1874520"/>
          </a:xfrm>
          <a:prstGeom prst="roundRect">
            <a:avLst>
              <a:gd name="adj" fmla="val 3902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25400" dir="5400000">
              <a:srgbClr val="000000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46520" y="1965960"/>
            <a:ext cx="658368" cy="658368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1" name="Image 1" descr="icons/crow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968" y="2121408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1911096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Nurture Returning into Loyal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7269480" y="246888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701 Returning customers are the highest-leverage segment to convert into long-term Loyal buyers.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3840480"/>
            <a:ext cx="5212080" cy="1874520"/>
          </a:xfrm>
          <a:prstGeom prst="roundRect">
            <a:avLst>
              <a:gd name="adj" fmla="val 3902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25400" dir="5400000">
              <a:srgbClr val="000000">
                <a:alpha val="2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4114800"/>
            <a:ext cx="658368" cy="658368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6" name="Image 2" descr="icons/tag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4270248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059936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Rationalize deep discounting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737360" y="461772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Hats, sneakers, and coats are discounted ~50% of the time — test smaller, targeted promotions.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172200" y="3840480"/>
            <a:ext cx="5212080" cy="1874520"/>
          </a:xfrm>
          <a:prstGeom prst="roundRect">
            <a:avLst>
              <a:gd name="adj" fmla="val 3902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25400" dir="5400000">
              <a:srgbClr val="000000">
                <a:alpha val="2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46520" y="4114800"/>
            <a:ext cx="658368" cy="658368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21" name="Image 3" descr="icons/bulb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968" y="4270248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69480" y="4059936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Rethink subscription incentives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7269480" y="461772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 don't outspend non-subscribers — redesign perks to actually lift order value.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754880" cy="475488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114800"/>
            <a:ext cx="3291840" cy="329184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2651760"/>
            <a:ext cx="1216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0" y="352044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  |  Python  •  SQL  •  Power BI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Shopping Behavior Analysis</dc:title>
  <dc:subject>PptxGenJS Presentation</dc:subject>
  <dc:creator>Customer Behavior Analysis</dc:creator>
  <cp:lastModifiedBy>Customer Behavior Analysis</cp:lastModifiedBy>
  <cp:revision>1</cp:revision>
  <dcterms:created xsi:type="dcterms:W3CDTF">2026-07-09T08:29:56Z</dcterms:created>
  <dcterms:modified xsi:type="dcterms:W3CDTF">2026-07-09T08:29:56Z</dcterms:modified>
</cp:coreProperties>
</file>